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217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950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0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39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16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08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82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45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39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2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11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D39CC-760E-41DF-8E21-C704B9848F79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613DE-2F9A-4C2F-B325-E99A913CA5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84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318614" y="110310"/>
            <a:ext cx="3888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9pPr>
          </a:lstStyle>
          <a:p>
            <a:pPr algn="dist" eaLnBrk="1" hangingPunct="1">
              <a:spcBef>
                <a:spcPct val="50000"/>
              </a:spcBef>
            </a:pPr>
            <a:r>
              <a:rPr lang="en-US" altLang="ja-JP" sz="2400" dirty="0"/>
              <a:t>【</a:t>
            </a:r>
            <a:r>
              <a:rPr lang="ja-JP" altLang="en-US" sz="2400" dirty="0"/>
              <a:t>休日勤務届出書</a:t>
            </a:r>
            <a:r>
              <a:rPr lang="en-US" altLang="ja-JP" sz="2400" dirty="0"/>
              <a:t>】</a:t>
            </a:r>
            <a:endParaRPr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3062" y="700343"/>
            <a:ext cx="3023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出勤日：　　月　　　日</a:t>
            </a:r>
            <a:endParaRPr kumimoji="1" lang="en-US" altLang="ja-JP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≪</a:t>
            </a:r>
            <a:r>
              <a:rPr kumimoji="1" lang="ja-JP" altLang="en-US" sz="2000" b="1" u="dbl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土曜・日曜・祝日</a:t>
            </a:r>
            <a:r>
              <a:rPr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≫</a:t>
            </a:r>
            <a:endParaRPr kumimoji="1" lang="ja-JP" altLang="en-US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4342203" y="683568"/>
            <a:ext cx="24272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Times New Roman" pitchFamily="18" charset="0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ja-JP" altLang="en-US" u="sng" dirty="0"/>
              <a:t>申請月日　　　　月　　　　日　</a:t>
            </a:r>
            <a:endParaRPr lang="ja-JP" altLang="en-US" sz="1600" u="sng" dirty="0"/>
          </a:p>
        </p:txBody>
      </p:sp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3262830" y="1105210"/>
          <a:ext cx="3494082" cy="967866"/>
        </p:xfrm>
        <a:graphic>
          <a:graphicData uri="http://schemas.openxmlformats.org/drawingml/2006/table">
            <a:tbl>
              <a:tblPr/>
              <a:tblGrid>
                <a:gridCol w="119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41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所　長</a:t>
                      </a:r>
                    </a:p>
                  </a:txBody>
                  <a:tcPr marL="91434" marR="91434" marT="45769" marB="4576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課　長</a:t>
                      </a:r>
                    </a:p>
                  </a:txBody>
                  <a:tcPr marL="91434" marR="91434" marT="45769" marB="457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申請者</a:t>
                      </a:r>
                    </a:p>
                  </a:txBody>
                  <a:tcPr marL="91434" marR="91434" marT="45769" marB="457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48"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HG丸ｺﾞｼｯｸM-PRO" pitchFamily="50" charset="-128"/>
                        <a:ea typeface="HG丸ｺﾞｼｯｸM-PRO" pitchFamily="50" charset="-128"/>
                      </a:endParaRPr>
                    </a:p>
                  </a:txBody>
                  <a:tcPr marL="91434" marR="91434" marT="45769" marB="457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latin typeface="HG丸ｺﾞｼｯｸM-PRO" pitchFamily="50" charset="-128"/>
                        <a:ea typeface="HG丸ｺﾞｼｯｸM-PRO" pitchFamily="50" charset="-128"/>
                      </a:endParaRPr>
                    </a:p>
                  </a:txBody>
                  <a:tcPr marL="91434" marR="91434" marT="45769" marB="457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1200" dirty="0">
                        <a:latin typeface="HG丸ｺﾞｼｯｸM-PRO" pitchFamily="50" charset="-128"/>
                        <a:ea typeface="HG丸ｺﾞｼｯｸM-PRO" pitchFamily="50" charset="-128"/>
                      </a:endParaRPr>
                    </a:p>
                  </a:txBody>
                  <a:tcPr marL="91434" marR="91434" marT="45769" marB="457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オブジェクト 8"/>
          <p:cNvGraphicFramePr>
            <a:graphicFrameLocks noChangeAspect="1"/>
          </p:cNvGraphicFramePr>
          <p:nvPr/>
        </p:nvGraphicFramePr>
        <p:xfrm>
          <a:off x="675261" y="2277818"/>
          <a:ext cx="5545137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ワークシート" r:id="rId3" imgW="4800600" imgH="2219258" progId="Excel.Sheet.12">
                  <p:embed/>
                </p:oleObj>
              </mc:Choice>
              <mc:Fallback>
                <p:oleObj name="ワークシート" r:id="rId3" imgW="4800600" imgH="2219258" progId="Excel.Sheet.12">
                  <p:embed/>
                  <p:pic>
                    <p:nvPicPr>
                      <p:cNvPr id="9" name="オブジェクト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261" y="2277818"/>
                        <a:ext cx="5545137" cy="281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表 9"/>
          <p:cNvGraphicFramePr>
            <a:graphicFrameLocks noGrp="1"/>
          </p:cNvGraphicFramePr>
          <p:nvPr/>
        </p:nvGraphicFramePr>
        <p:xfrm>
          <a:off x="675261" y="5153421"/>
          <a:ext cx="5545138" cy="850900"/>
        </p:xfrm>
        <a:graphic>
          <a:graphicData uri="http://schemas.openxmlformats.org/drawingml/2006/table">
            <a:tbl>
              <a:tblPr/>
              <a:tblGrid>
                <a:gridCol w="127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お客様名</a:t>
                      </a:r>
                    </a:p>
                  </a:txBody>
                  <a:tcPr marL="91450" marR="91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000" dirty="0">
                        <a:latin typeface="HG丸ｺﾞｼｯｸM-PRO" pitchFamily="50" charset="-128"/>
                        <a:ea typeface="HG丸ｺﾞｼｯｸM-PRO" pitchFamily="50" charset="-128"/>
                      </a:endParaRPr>
                    </a:p>
                  </a:txBody>
                  <a:tcPr marL="91450" marR="91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設置住所</a:t>
                      </a:r>
                    </a:p>
                  </a:txBody>
                  <a:tcPr marL="91450" marR="9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>
                        <a:latin typeface="HG丸ｺﾞｼｯｸM-PRO" pitchFamily="50" charset="-128"/>
                        <a:ea typeface="HG丸ｺﾞｼｯｸM-PRO" pitchFamily="50" charset="-128"/>
                      </a:endParaRPr>
                    </a:p>
                  </a:txBody>
                  <a:tcPr marL="91450" marR="91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/>
        </p:nvGraphicFramePr>
        <p:xfrm>
          <a:off x="659303" y="6156176"/>
          <a:ext cx="5545138" cy="411162"/>
        </p:xfrm>
        <a:graphic>
          <a:graphicData uri="http://schemas.openxmlformats.org/drawingml/2006/table">
            <a:tbl>
              <a:tblPr/>
              <a:tblGrid>
                <a:gridCol w="1381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＊振替勤務</a:t>
                      </a:r>
                    </a:p>
                  </a:txBody>
                  <a:tcPr marL="91456" marR="91456" marT="45516" marB="4551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無</a:t>
                      </a:r>
                    </a:p>
                  </a:txBody>
                  <a:tcPr marL="91456" marR="91456" marT="45516" marB="4551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有</a:t>
                      </a:r>
                      <a:r>
                        <a:rPr kumimoji="1" lang="ja-JP" altLang="en-US" sz="1200" dirty="0">
                          <a:latin typeface="HG丸ｺﾞｼｯｸM-PRO" pitchFamily="50" charset="-128"/>
                          <a:ea typeface="HG丸ｺﾞｼｯｸM-PRO" pitchFamily="50" charset="-128"/>
                        </a:rPr>
                        <a:t>　　　　　代休日　　　月　　　日</a:t>
                      </a:r>
                    </a:p>
                  </a:txBody>
                  <a:tcPr marL="91456" marR="91456" marT="45516" marB="45516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正方形/長方形 11"/>
          <p:cNvSpPr/>
          <p:nvPr/>
        </p:nvSpPr>
        <p:spPr>
          <a:xfrm>
            <a:off x="421164" y="7951456"/>
            <a:ext cx="6348327" cy="102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lang="ja-JP" altLang="en-US" sz="1100" b="1" dirty="0">
                <a:solidFill>
                  <a:srgbClr val="FF0000"/>
                </a:solidFill>
                <a:latin typeface="Times New Roman" pitchFamily="18" charset="0"/>
                <a:ea typeface="HG丸ｺﾞｼｯｸM-PRO" pitchFamily="50" charset="-128"/>
              </a:rPr>
              <a:t>■必須　</a:t>
            </a:r>
            <a:r>
              <a:rPr lang="en-US" altLang="ja-JP" sz="1100" b="1" dirty="0">
                <a:solidFill>
                  <a:srgbClr val="FF0000"/>
                </a:solidFill>
                <a:latin typeface="Times New Roman" pitchFamily="18" charset="0"/>
                <a:ea typeface="HG丸ｺﾞｼｯｸM-PRO" pitchFamily="50" charset="-128"/>
              </a:rPr>
              <a:t>J-TOHMAS</a:t>
            </a:r>
            <a:r>
              <a:rPr lang="ja-JP" altLang="en-US" sz="1100" b="1" dirty="0">
                <a:solidFill>
                  <a:srgbClr val="FF0000"/>
                </a:solidFill>
                <a:latin typeface="Times New Roman" pitchFamily="18" charset="0"/>
                <a:ea typeface="HG丸ｺﾞｼｯｸM-PRO" pitchFamily="50" charset="-128"/>
              </a:rPr>
              <a:t>日報「メモ」欄に業務予定内容、当日は「応対メモ」へ業務実施内容登録</a:t>
            </a:r>
            <a:endParaRPr lang="en-US" altLang="ja-JP" sz="1100" b="1" dirty="0">
              <a:solidFill>
                <a:srgbClr val="FF0000"/>
              </a:solidFill>
              <a:latin typeface="Times New Roman" pitchFamily="18" charset="0"/>
              <a:ea typeface="HG丸ｺﾞｼｯｸM-PRO" pitchFamily="50" charset="-128"/>
            </a:endParaRPr>
          </a:p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lang="ja-JP" altLang="en-US" sz="1100" b="1" dirty="0">
                <a:solidFill>
                  <a:srgbClr val="000000"/>
                </a:solidFill>
                <a:latin typeface="Times New Roman" pitchFamily="18" charset="0"/>
                <a:ea typeface="HG丸ｺﾞｼｯｸM-PRO" pitchFamily="50" charset="-128"/>
              </a:rPr>
              <a:t>◇代休日は、当該１週間を含む４週間の期間内であること</a:t>
            </a:r>
            <a:endParaRPr lang="en-US" altLang="ja-JP" sz="1100" b="1" dirty="0">
              <a:solidFill>
                <a:srgbClr val="000000"/>
              </a:solidFill>
              <a:latin typeface="Times New Roman" pitchFamily="18" charset="0"/>
              <a:ea typeface="HG丸ｺﾞｼｯｸM-PRO" pitchFamily="50" charset="-128"/>
            </a:endParaRPr>
          </a:p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lang="ja-JP" altLang="en-US" sz="1100" b="1" dirty="0">
                <a:solidFill>
                  <a:srgbClr val="000000"/>
                </a:solidFill>
                <a:latin typeface="Times New Roman" pitchFamily="18" charset="0"/>
                <a:ea typeface="HG丸ｺﾞｼｯｸM-PRO" pitchFamily="50" charset="-128"/>
              </a:rPr>
              <a:t>◇休日勤務の当核週・月曜日午前中までに提出のこと</a:t>
            </a:r>
            <a:endParaRPr lang="en-US" altLang="ja-JP" sz="1100" b="1" dirty="0">
              <a:solidFill>
                <a:srgbClr val="000000"/>
              </a:solidFill>
              <a:latin typeface="Times New Roman" pitchFamily="18" charset="0"/>
              <a:ea typeface="HG丸ｺﾞｼｯｸM-PRO" pitchFamily="50" charset="-128"/>
            </a:endParaRPr>
          </a:p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lang="ja-JP" altLang="en-US" sz="1100" b="1" dirty="0">
                <a:solidFill>
                  <a:srgbClr val="000000"/>
                </a:solidFill>
                <a:latin typeface="Times New Roman" pitchFamily="18" charset="0"/>
                <a:ea typeface="HG丸ｺﾞｼｯｸM-PRO" pitchFamily="50" charset="-128"/>
              </a:rPr>
              <a:t>◇ＳＥ＆ＣＡ複数立会いについては、事前に上長確認を取ること</a:t>
            </a:r>
            <a:endParaRPr lang="en-US" altLang="ja-JP" sz="1000" b="1" dirty="0">
              <a:solidFill>
                <a:srgbClr val="000000"/>
              </a:solidFill>
              <a:latin typeface="Times New Roman" pitchFamily="18" charset="0"/>
              <a:ea typeface="HG丸ｺﾞｼｯｸM-PRO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02775" y="1426336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</a:t>
            </a: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丸を付けてください）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204864" y="4814446"/>
            <a:ext cx="3888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※</a:t>
            </a:r>
            <a:r>
              <a:rPr kumimoji="1" lang="ja-JP" altLang="en-US" sz="11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有の場合は名前を記入</a:t>
            </a:r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/>
        </p:nvGraphicFramePr>
        <p:xfrm>
          <a:off x="542819" y="6804248"/>
          <a:ext cx="6124399" cy="111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ワークシート" r:id="rId5" imgW="4086360" imgH="743110" progId="Excel.Sheet.12">
                  <p:embed/>
                </p:oleObj>
              </mc:Choice>
              <mc:Fallback>
                <p:oleObj name="ワークシート" r:id="rId5" imgW="4086360" imgH="743110" progId="Excel.Sheet.12">
                  <p:embed/>
                  <p:pic>
                    <p:nvPicPr>
                      <p:cNvPr id="6" name="オブジェクト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2819" y="6804248"/>
                        <a:ext cx="6124399" cy="1114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テキスト ボックス 13"/>
          <p:cNvSpPr txBox="1"/>
          <p:nvPr/>
        </p:nvSpPr>
        <p:spPr>
          <a:xfrm>
            <a:off x="6309320" y="110310"/>
            <a:ext cx="54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Ver.2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2123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126</Words>
  <Application>Microsoft Office PowerPoint</Application>
  <PresentationFormat>画面に合わせる (4:3)</PresentationFormat>
  <Paragraphs>19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HG丸ｺﾞｼｯｸM-PRO</vt:lpstr>
      <vt:lpstr>Arial</vt:lpstr>
      <vt:lpstr>Calibri</vt:lpstr>
      <vt:lpstr>Calibri Light</vt:lpstr>
      <vt:lpstr>Times New Roman</vt:lpstr>
      <vt:lpstr>Office テーマ</vt:lpstr>
      <vt:lpstr>ワークシート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Takahiro Hirahae (平八重 貴裕)</dc:creator>
  <cp:lastModifiedBy>Takahiro Hirahae (平八重 貴裕)</cp:lastModifiedBy>
  <cp:revision>1</cp:revision>
  <dcterms:created xsi:type="dcterms:W3CDTF">2023-10-19T22:42:11Z</dcterms:created>
  <dcterms:modified xsi:type="dcterms:W3CDTF">2023-10-19T22:46:00Z</dcterms:modified>
</cp:coreProperties>
</file>